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4"/>
  </p:sldMasterIdLst>
  <p:notesMasterIdLst>
    <p:notesMasterId r:id="rId13"/>
  </p:notesMasterIdLst>
  <p:sldIdLst>
    <p:sldId id="256" r:id="rId5"/>
    <p:sldId id="257" r:id="rId6"/>
    <p:sldId id="258" r:id="rId7"/>
    <p:sldId id="270" r:id="rId8"/>
    <p:sldId id="260" r:id="rId9"/>
    <p:sldId id="261" r:id="rId10"/>
    <p:sldId id="269" r:id="rId11"/>
    <p:sldId id="268" r:id="rId12"/>
  </p:sldIdLst>
  <p:sldSz cx="12192000" cy="6858000"/>
  <p:notesSz cx="6858000" cy="9144000"/>
  <p:embeddedFontLst>
    <p:embeddedFont>
      <p:font typeface="Work Sans" pitchFamily="2" charset="0"/>
      <p:regular r:id="rId14"/>
      <p:bold r:id="rId15"/>
      <p:italic r:id="rId16"/>
      <p:boldItalic r:id="rId17"/>
    </p:embeddedFont>
    <p:embeddedFont>
      <p:font typeface="Work Sans Light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70461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62188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Encabezado de sección">
  <p:cSld name="2_Encabezado de secció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 descr="Patrón de fond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995421" y="2551837"/>
            <a:ext cx="7710833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s-MX" sz="5400" b="1" i="0" u="none" strike="noStrike" cap="none" dirty="0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PAE (Péguele a la Empanada)</a:t>
            </a:r>
            <a:endParaRPr sz="4000" b="1" i="0" u="none" strike="noStrike" cap="none" dirty="0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/>
        </p:nvSpPr>
        <p:spPr>
          <a:xfrm>
            <a:off x="3573518" y="2228671"/>
            <a:ext cx="504497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s-CO" sz="7200" b="0" i="0" u="none" strike="noStrike" cap="non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Integrantes</a:t>
            </a:r>
            <a:endParaRPr sz="7200" b="0" i="0" u="none" strike="noStrike" cap="non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cxnSp>
        <p:nvCxnSpPr>
          <p:cNvPr id="106" name="Google Shape;106;p17"/>
          <p:cNvCxnSpPr/>
          <p:nvPr/>
        </p:nvCxnSpPr>
        <p:spPr>
          <a:xfrm>
            <a:off x="5227899" y="3321934"/>
            <a:ext cx="1736203" cy="0"/>
          </a:xfrm>
          <a:prstGeom prst="straightConnector1">
            <a:avLst/>
          </a:prstGeom>
          <a:noFill/>
          <a:ln w="9525" cap="flat" cmpd="sng">
            <a:solidFill>
              <a:srgbClr val="38AA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17"/>
          <p:cNvSpPr txBox="1"/>
          <p:nvPr/>
        </p:nvSpPr>
        <p:spPr>
          <a:xfrm>
            <a:off x="4168816" y="3463724"/>
            <a:ext cx="385436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Gaes</a:t>
            </a: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O" sz="16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N°</a:t>
            </a: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1: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-"/>
            </a:pP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Marlon Stiben </a:t>
            </a: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Avila Herrera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-"/>
            </a:pPr>
            <a: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Sebastián David Mercado Méndez</a:t>
            </a: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Tx/>
              <a:buChar char="-"/>
            </a:pPr>
            <a:r>
              <a:rPr lang="es-CO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Juan Esteban Ojeda Muñoz</a:t>
            </a:r>
            <a:br>
              <a:rPr lang="es-CO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8C720C55-1CE5-E701-A11C-4BBA41461905}"/>
              </a:ext>
            </a:extLst>
          </p:cNvPr>
          <p:cNvSpPr txBox="1"/>
          <p:nvPr/>
        </p:nvSpPr>
        <p:spPr>
          <a:xfrm>
            <a:off x="1125415" y="2326195"/>
            <a:ext cx="9718431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0" i="0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La empresa “Péguele a la empanada” tiene problemas a la hora de llevar un registro de empanadas producidas en el </a:t>
            </a:r>
            <a:r>
              <a:rPr lang="es-CO" sz="2400" b="0" i="0" u="none" strike="noStrike" cap="none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dia</a:t>
            </a:r>
            <a:r>
              <a:rPr lang="es-CO" sz="2400" b="0" i="0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 esto también hace que sea complicado llevar el registro de ventas. Por otro lado, el conteo de las empanadas vendidas y producidas del personal se está realizando mediante un sistema poco eficiente lo que genera inquietudes en los empleados.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ES" b="1" dirty="0">
                <a:solidFill>
                  <a:schemeClr val="lt1"/>
                </a:solidFill>
                <a:ea typeface="Arial"/>
              </a:rPr>
              <a:t>J</a:t>
            </a:r>
            <a:r>
              <a:rPr lang="es-CO" b="1" dirty="0" err="1">
                <a:solidFill>
                  <a:schemeClr val="lt1"/>
                </a:solidFill>
                <a:ea typeface="Arial"/>
              </a:rPr>
              <a:t>ustificación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13;p3">
            <a:extLst>
              <a:ext uri="{FF2B5EF4-FFF2-40B4-BE49-F238E27FC236}">
                <a16:creationId xmlns:a16="http://schemas.microsoft.com/office/drawing/2014/main" id="{1BDDB3A6-3D9E-0CA6-E6C9-1EEA8DFCD75E}"/>
              </a:ext>
            </a:extLst>
          </p:cNvPr>
          <p:cNvSpPr txBox="1"/>
          <p:nvPr/>
        </p:nvSpPr>
        <p:spPr>
          <a:xfrm>
            <a:off x="1236784" y="2274858"/>
            <a:ext cx="9718431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s-ES" sz="2400" dirty="0"/>
              <a:t>La empresa </a:t>
            </a:r>
            <a:r>
              <a:rPr lang="es-ES" sz="2400" i="1" dirty="0"/>
              <a:t>“Péguele a la Empanada”</a:t>
            </a:r>
            <a:r>
              <a:rPr lang="es-ES" sz="2400" dirty="0"/>
              <a:t> necesita un sistema que optimice el control de producción y ventas, ya que el manejo manual actual genera errores, retrasos e inconformidad en el personal. Un software centralizado permitirá reducir fallos, mejorar la comunicación entre áreas, llevar registros en tiempo real y apoyar la toma de decisiones para mayor eficiencia y confianza en los procesos.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4827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25;p5">
            <a:extLst>
              <a:ext uri="{FF2B5EF4-FFF2-40B4-BE49-F238E27FC236}">
                <a16:creationId xmlns:a16="http://schemas.microsoft.com/office/drawing/2014/main" id="{A597CC20-38D9-9472-1875-E40B2DD1A678}"/>
              </a:ext>
            </a:extLst>
          </p:cNvPr>
          <p:cNvSpPr txBox="1"/>
          <p:nvPr/>
        </p:nvSpPr>
        <p:spPr>
          <a:xfrm>
            <a:off x="2737338" y="2644190"/>
            <a:ext cx="671732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0335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400" b="0" i="1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Desarrollar un software para la empresa “Péguele a la empanada” que permita agilizar la producción, las ventas y el control de producción de los empleados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31;p6">
            <a:extLst>
              <a:ext uri="{FF2B5EF4-FFF2-40B4-BE49-F238E27FC236}">
                <a16:creationId xmlns:a16="http://schemas.microsoft.com/office/drawing/2014/main" id="{20B17C8B-CEAA-20F1-1B97-88476151B7F1}"/>
              </a:ext>
            </a:extLst>
          </p:cNvPr>
          <p:cNvSpPr txBox="1"/>
          <p:nvPr/>
        </p:nvSpPr>
        <p:spPr>
          <a:xfrm>
            <a:off x="2249540" y="2369735"/>
            <a:ext cx="7692919" cy="211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40322" marR="0" lvl="0" indent="-165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AutoNum type="arabicPeriod"/>
            </a:pPr>
            <a:r>
              <a:rPr lang="es-CO" sz="2600" b="0" i="1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Organizar el registro de la producción</a:t>
            </a:r>
            <a:endParaRPr dirty="0"/>
          </a:p>
          <a:p>
            <a:pPr marL="140322" marR="0" lvl="0" indent="-165100" algn="just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AutoNum type="arabicPeriod"/>
            </a:pPr>
            <a:r>
              <a:rPr lang="es-CO" sz="2600" b="0" i="1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Facilitar el seguimiento de producción de los empleados</a:t>
            </a:r>
            <a:endParaRPr dirty="0"/>
          </a:p>
          <a:p>
            <a:pPr marL="140322" marR="0" lvl="0" indent="-165100" algn="just" rtl="0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AutoNum type="arabicPeriod"/>
            </a:pPr>
            <a:r>
              <a:rPr lang="es-CO" sz="2600" b="0" i="1" u="none" strike="noStrike" cap="none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Gestionar la información de las ventas realizadas por los empleados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b="1" dirty="0">
                <a:solidFill>
                  <a:schemeClr val="lt1"/>
                </a:solidFill>
              </a:rPr>
              <a:t>Funcionalidad de la Aplicación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94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 descr="Imagen que contiene Interfaz de usuario gráfic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160BF63992044A99946E4B9FF8A5D5" ma:contentTypeVersion="13" ma:contentTypeDescription="Crear nuevo documento." ma:contentTypeScope="" ma:versionID="06454fd236dc05a891742d5aab05af0d">
  <xsd:schema xmlns:xsd="http://www.w3.org/2001/XMLSchema" xmlns:xs="http://www.w3.org/2001/XMLSchema" xmlns:p="http://schemas.microsoft.com/office/2006/metadata/properties" xmlns:ns2="7f8eb868-f2a7-49ec-80f2-9ac6732c6161" xmlns:ns3="5d6dac1f-6572-46e6-8ac2-54aa885adc11" targetNamespace="http://schemas.microsoft.com/office/2006/metadata/properties" ma:root="true" ma:fieldsID="6957ee188ad8ffd305d5a7aa607a7476" ns2:_="" ns3:_="">
    <xsd:import namespace="7f8eb868-f2a7-49ec-80f2-9ac6732c6161"/>
    <xsd:import namespace="5d6dac1f-6572-46e6-8ac2-54aa885adc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8eb868-f2a7-49ec-80f2-9ac6732c61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dac1f-6572-46e6-8ac2-54aa885adc1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ccdf9414-da01-4ed1-94d9-1ffe773bbf71}" ma:internalName="TaxCatchAll" ma:showField="CatchAllData" ma:web="5d6dac1f-6572-46e6-8ac2-54aa885adc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d6dac1f-6572-46e6-8ac2-54aa885adc11" xsi:nil="true"/>
    <lcf76f155ced4ddcb4097134ff3c332f xmlns="7f8eb868-f2a7-49ec-80f2-9ac6732c616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00518E6-A848-4FA8-B035-1D88124CDF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40E4B1-8610-4570-8959-58085EA8D9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f8eb868-f2a7-49ec-80f2-9ac6732c6161"/>
    <ds:schemaRef ds:uri="5d6dac1f-6572-46e6-8ac2-54aa885adc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127C045-7EF5-46D5-91BC-14472EE820E0}">
  <ds:schemaRefs>
    <ds:schemaRef ds:uri="http://schemas.microsoft.com/office/2006/metadata/properties"/>
    <ds:schemaRef ds:uri="http://schemas.microsoft.com/office/infopath/2007/PartnerControls"/>
    <ds:schemaRef ds:uri="5d6dac1f-6572-46e6-8ac2-54aa885adc11"/>
    <ds:schemaRef ds:uri="7f8eb868-f2a7-49ec-80f2-9ac6732c6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228</Words>
  <Application>Microsoft Office PowerPoint</Application>
  <PresentationFormat>Panorámica</PresentationFormat>
  <Paragraphs>19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Work Sans</vt:lpstr>
      <vt:lpstr>Work Sans Light</vt:lpstr>
      <vt:lpstr>Calibri</vt:lpstr>
      <vt:lpstr>Arial</vt:lpstr>
      <vt:lpstr>Tema de Office</vt:lpstr>
      <vt:lpstr>Presentación de PowerPoint</vt:lpstr>
      <vt:lpstr>Presentación de PowerPoint</vt:lpstr>
      <vt:lpstr>Planteamiento del Problema</vt:lpstr>
      <vt:lpstr>Justificación</vt:lpstr>
      <vt:lpstr>Objetivo General</vt:lpstr>
      <vt:lpstr>Objetivos Específicos</vt:lpstr>
      <vt:lpstr>Funcionalidad de la Aplicación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Marlon Avila</cp:lastModifiedBy>
  <cp:revision>4</cp:revision>
  <dcterms:modified xsi:type="dcterms:W3CDTF">2025-09-23T00:54:42Z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0x0101009C160BF63992044A99946E4B9FF8A5D5</vt:lpwstr>
  </property>
</Properties>
</file>